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476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17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601200" y="822960"/>
            <a:ext cx="2011680" cy="109728"/>
          </a:xfrm>
          <a:prstGeom prst="rect">
            <a:avLst/>
          </a:prstGeom>
          <a:solidFill>
            <a:srgbClr val="19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0" y="1143000"/>
            <a:ext cx="1371600" cy="109728"/>
          </a:xfrm>
          <a:prstGeom prst="rect">
            <a:avLst/>
          </a:prstGeom>
          <a:solidFill>
            <a:srgbClr val="30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9A59B"/>
                </a:solidFill>
                <a:latin typeface="Aptos"/>
              </a:defRPr>
            </a:pPr>
            <a:r>
              <a:t>NEXVIA TECHNOLOGIES  |  DA-01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955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Enterprise Business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Intelligence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7472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CE6F2"/>
                </a:solidFill>
                <a:latin typeface="Aptos"/>
              </a:defRPr>
            </a:pPr>
            <a:r>
              <a:t>A unified, interactive dashboard for business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94960"/>
            <a:ext cx="70408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rPr dirty="0"/>
              <a:t>Presented by: Sri </a:t>
            </a:r>
            <a:r>
              <a:rPr dirty="0" err="1" smtClean="0"/>
              <a:t>Vandana</a:t>
            </a:r>
            <a:r>
              <a:rPr lang="en-US" dirty="0" smtClean="0"/>
              <a:t> </a:t>
            </a:r>
            <a:r>
              <a:rPr lang="en-US" dirty="0" err="1" smtClean="0"/>
              <a:t>Dornala</a:t>
            </a:r>
            <a:endParaRPr lang="en-US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9784080" y="2194560"/>
            <a:ext cx="1463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SALES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FINANCE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HR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SUPPLY</a:t>
            </a:r>
          </a:p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5029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BED2E6"/>
                </a:solidFill>
                <a:latin typeface="Aptos"/>
              </a:defRPr>
            </a:pPr>
            <a:r>
              <a:t>10-MINUTE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1E34"/>
                </a:solidFill>
                <a:latin typeface="Aptos"/>
              </a:defRPr>
            </a:pPr>
            <a:r>
              <a:t>1. 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D6C7E"/>
                </a:solidFill>
                <a:latin typeface="Aptos"/>
              </a:defRPr>
            </a:pPr>
            <a:r>
              <a:t>Why a unified BI view is useful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960120" cy="54864"/>
          </a:xfrm>
          <a:prstGeom prst="rect">
            <a:avLst/>
          </a:prstGeom>
          <a:solidFill>
            <a:srgbClr val="19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D6C7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1828800"/>
          </a:xfrm>
          <a:prstGeom prst="rect">
            <a:avLst/>
          </a:prstGeom>
          <a:solidFill>
            <a:srgbClr val="30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3794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58568"/>
            <a:ext cx="489204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5303F"/>
                </a:solidFill>
                <a:latin typeface="Aptos"/>
              </a:defRPr>
            </a:pPr>
            <a:r>
              <a:t>Business performance data is spread across multiple subject areas. Comparing sales, finance, people, and inventory can require switching between separate 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1828800"/>
          </a:xfrm>
          <a:prstGeom prst="rect">
            <a:avLst/>
          </a:prstGeom>
          <a:solidFill>
            <a:srgbClr val="19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3794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t>The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58568"/>
            <a:ext cx="489204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5303F"/>
                </a:solidFill>
                <a:latin typeface="Aptos"/>
              </a:defRPr>
            </a:pPr>
            <a:r>
              <a:t>Build one interactive executive dashboard that brings key indicators together, supports filtering and detail exploration, and helps users identify patterns.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77639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5303F"/>
                </a:solidFill>
                <a:latin typeface="Aptos"/>
              </a:defRPr>
            </a:pPr>
            <a:r>
              <a:t>•  Make important KPIs easy to monitor.</a:t>
            </a:r>
          </a:p>
          <a:p>
            <a:pPr>
              <a:spcAft>
                <a:spcPts val="1500"/>
              </a:spcAft>
              <a:defRPr sz="1800">
                <a:solidFill>
                  <a:srgbClr val="25303F"/>
                </a:solidFill>
                <a:latin typeface="Aptos"/>
              </a:defRPr>
            </a:pPr>
            <a:r>
              <a:t>•  Let users explore data by year, region, currency, and business area.</a:t>
            </a:r>
          </a:p>
          <a:p>
            <a:pPr>
              <a:spcAft>
                <a:spcPts val="1500"/>
              </a:spcAft>
              <a:defRPr sz="1800">
                <a:solidFill>
                  <a:srgbClr val="25303F"/>
                </a:solidFill>
                <a:latin typeface="Aptos"/>
              </a:defRPr>
            </a:pPr>
            <a:r>
              <a:t>•  Keep the experience consistent through single-page navigation.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1E34"/>
                </a:solidFill>
                <a:latin typeface="Aptos"/>
              </a:defRPr>
            </a:pPr>
            <a:r>
              <a:t>2. Data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D6C7E"/>
                </a:solidFill>
                <a:latin typeface="Aptos"/>
              </a:defRPr>
            </a:pPr>
            <a:r>
              <a:t>AdventureWorksDW2022 as the sample enterprise data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960120" cy="54864"/>
          </a:xfrm>
          <a:prstGeom prst="rect">
            <a:avLst/>
          </a:prstGeom>
          <a:solidFill>
            <a:srgbClr val="19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D6C7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1965960"/>
          </a:xfrm>
          <a:prstGeom prst="rect">
            <a:avLst/>
          </a:prstGeom>
          <a:solidFill>
            <a:srgbClr val="30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3794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t>Data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58568"/>
            <a:ext cx="315468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03F"/>
                </a:solidFill>
                <a:latin typeface="Aptos"/>
              </a:defRPr>
            </a:pPr>
            <a:r>
              <a:t>SQL Server Developer Edition</a:t>
            </a:r>
          </a:p>
          <a:p>
            <a:pPr>
              <a:spcAft>
                <a:spcPts val="800"/>
              </a:spcAft>
              <a:defRPr sz="1600" b="0">
                <a:solidFill>
                  <a:srgbClr val="25303F"/>
                </a:solidFill>
                <a:latin typeface="Aptos"/>
              </a:defRPr>
            </a:pPr>
            <a:r>
              <a:t>AdventureWorksDW2022</a:t>
            </a:r>
          </a:p>
          <a:p>
            <a:pPr>
              <a:spcAft>
                <a:spcPts val="800"/>
              </a:spcAft>
              <a:defRPr sz="1600" b="0">
                <a:solidFill>
                  <a:srgbClr val="25303F"/>
                </a:solidFill>
                <a:latin typeface="Aptos"/>
              </a:defRPr>
            </a:pPr>
            <a:r>
              <a:t>Imported into Power 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73152" cy="1965960"/>
          </a:xfrm>
          <a:prstGeom prst="rect">
            <a:avLst/>
          </a:prstGeom>
          <a:solidFill>
            <a:srgbClr val="19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83794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rPr dirty="0"/>
              <a:t>Core subject areas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58568"/>
            <a:ext cx="315468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03F"/>
                </a:solidFill>
                <a:latin typeface="Aptos"/>
              </a:defRPr>
            </a:pPr>
            <a:r>
              <a:rPr dirty="0"/>
              <a:t>Internet Sales</a:t>
            </a:r>
          </a:p>
          <a:p>
            <a:pPr>
              <a:spcAft>
                <a:spcPts val="800"/>
              </a:spcAft>
              <a:defRPr sz="1500" b="0">
                <a:solidFill>
                  <a:srgbClr val="25303F"/>
                </a:solidFill>
                <a:latin typeface="Aptos"/>
              </a:defRPr>
            </a:pPr>
            <a:r>
              <a:rPr dirty="0"/>
              <a:t>Finance</a:t>
            </a:r>
          </a:p>
          <a:p>
            <a:pPr>
              <a:spcAft>
                <a:spcPts val="800"/>
              </a:spcAft>
              <a:defRPr sz="1500" b="0">
                <a:solidFill>
                  <a:srgbClr val="25303F"/>
                </a:solidFill>
                <a:latin typeface="Aptos"/>
              </a:defRPr>
            </a:pPr>
            <a:r>
              <a:rPr dirty="0"/>
              <a:t>Product </a:t>
            </a:r>
            <a:r>
              <a:rPr dirty="0" smtClean="0"/>
              <a:t>Inventory</a:t>
            </a:r>
            <a:r>
              <a:rPr lang="en-US" dirty="0" smtClean="0"/>
              <a:t>, </a:t>
            </a:r>
            <a:r>
              <a:rPr dirty="0" smtClean="0"/>
              <a:t>Date</a:t>
            </a:r>
            <a:r>
              <a:rPr dirty="0"/>
              <a:t>, Product, Customer, Territory </a:t>
            </a:r>
            <a:r>
              <a:rPr lang="en-US" dirty="0" smtClean="0"/>
              <a:t>Dimensions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8001000" y="169164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691640"/>
            <a:ext cx="73152" cy="1965960"/>
          </a:xfrm>
          <a:prstGeom prst="rect">
            <a:avLst/>
          </a:prstGeom>
          <a:solidFill>
            <a:srgbClr val="E89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83794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t>Tools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258568"/>
            <a:ext cx="315468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03F"/>
                </a:solidFill>
                <a:latin typeface="Aptos"/>
              </a:defRPr>
            </a:pPr>
            <a:r>
              <a:t>SQL Server / SQL Agent</a:t>
            </a:r>
          </a:p>
          <a:p>
            <a:pPr>
              <a:spcAft>
                <a:spcPts val="800"/>
              </a:spcAft>
              <a:defRPr sz="1600" b="0">
                <a:solidFill>
                  <a:srgbClr val="25303F"/>
                </a:solidFill>
                <a:latin typeface="Aptos"/>
              </a:defRPr>
            </a:pPr>
            <a:r>
              <a:t>Power Query</a:t>
            </a:r>
          </a:p>
          <a:p>
            <a:pPr>
              <a:spcAft>
                <a:spcPts val="800"/>
              </a:spcAft>
              <a:defRPr sz="1600" b="0">
                <a:solidFill>
                  <a:srgbClr val="25303F"/>
                </a:solidFill>
                <a:latin typeface="Aptos"/>
              </a:defRPr>
            </a:pPr>
            <a:r>
              <a:t>Power BI Desktop</a:t>
            </a:r>
          </a:p>
          <a:p>
            <a:pPr>
              <a:spcAft>
                <a:spcPts val="800"/>
              </a:spcAft>
              <a:defRPr sz="1600" b="0">
                <a:solidFill>
                  <a:srgbClr val="25303F"/>
                </a:solidFill>
                <a:latin typeface="Aptos"/>
              </a:defRPr>
            </a:pPr>
            <a:r>
              <a:t>DAX measures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21E34"/>
                </a:solidFill>
                <a:latin typeface="Aptos"/>
              </a:defRPr>
            </a:pPr>
            <a:r>
              <a:t>Data coverage observed in the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5303F"/>
                </a:solidFill>
                <a:latin typeface="Aptos"/>
              </a:defRPr>
            </a:pPr>
            <a:r>
              <a:rPr dirty="0"/>
              <a:t>•  Sales &amp; inventory: 2010–2014</a:t>
            </a:r>
          </a:p>
          <a:p>
            <a:pPr>
              <a:spcAft>
                <a:spcPts val="1500"/>
              </a:spcAft>
              <a:defRPr sz="1600">
                <a:solidFill>
                  <a:srgbClr val="25303F"/>
                </a:solidFill>
                <a:latin typeface="Aptos"/>
              </a:defRPr>
            </a:pPr>
            <a:r>
              <a:rPr dirty="0"/>
              <a:t>•  Finance: 2010–2013; blank periods reflect missing source records, not necessarily zero business activity.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1E34"/>
                </a:solidFill>
                <a:latin typeface="Aptos"/>
              </a:defRPr>
            </a:pPr>
            <a:r>
              <a:t>3.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D6C7E"/>
                </a:solidFill>
                <a:latin typeface="Aptos"/>
              </a:defRPr>
            </a:pPr>
            <a:r>
              <a:t>From source tables to decision-ready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960120" cy="54864"/>
          </a:xfrm>
          <a:prstGeom prst="rect">
            <a:avLst/>
          </a:prstGeom>
          <a:solidFill>
            <a:srgbClr val="19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D6C7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21488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0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3591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21E34"/>
                </a:solidFill>
                <a:latin typeface="Aptos"/>
              </a:defRPr>
            </a:pPr>
            <a:r>
              <a:t>SQL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25303F"/>
                </a:solidFill>
                <a:latin typeface="Aptos"/>
              </a:defRPr>
            </a:pPr>
            <a:r>
              <a:t>AdventureWorksDW2022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25303F"/>
                </a:solidFill>
                <a:latin typeface="Aptos"/>
              </a:defRPr>
            </a:pPr>
            <a:r>
              <a:t>Source facts + 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148840"/>
            <a:ext cx="21488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19A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75887" y="23591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21E34"/>
                </a:solidFill>
                <a:latin typeface="Aptos"/>
              </a:defRPr>
            </a:pPr>
            <a:r>
              <a:t>POWER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78892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25303F"/>
                </a:solidFill>
                <a:latin typeface="Aptos"/>
              </a:defRPr>
            </a:pPr>
            <a:r>
              <a:t>Import and prepare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25303F"/>
                </a:solidFill>
                <a:latin typeface="Aptos"/>
              </a:defRPr>
            </a:pPr>
            <a:r>
              <a:t>fields and data types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148840"/>
            <a:ext cx="21488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9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8" y="23591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21E34"/>
                </a:solidFill>
                <a:latin typeface="Aptos"/>
              </a:defRPr>
            </a:pPr>
            <a:r>
              <a:t>SEMANTIC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25303F"/>
                </a:solidFill>
                <a:latin typeface="Aptos"/>
              </a:defRPr>
            </a:pPr>
            <a:r>
              <a:t>Relationships, DAX,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25303F"/>
                </a:solidFill>
                <a:latin typeface="Aptos"/>
              </a:defRPr>
            </a:pPr>
            <a:r>
              <a:t>RLS and measures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148840"/>
            <a:ext cx="21488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0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36607" y="23591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21E34"/>
                </a:solidFill>
                <a:latin typeface="Aptos"/>
              </a:defRPr>
            </a:pPr>
            <a:r>
              <a:t>POWER BI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78892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25303F"/>
                </a:solidFill>
                <a:latin typeface="Aptos"/>
              </a:defRPr>
            </a:pPr>
            <a:r>
              <a:t>KPIs, visuals, slicers,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25303F"/>
                </a:solidFill>
                <a:latin typeface="Aptos"/>
              </a:defRPr>
            </a:pPr>
            <a:r>
              <a:t>bookmarks and drill-through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26517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500" b="1">
                <a:solidFill>
                  <a:srgbClr val="19A59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26517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500" b="1">
                <a:solidFill>
                  <a:srgbClr val="19A59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26517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500" b="1">
                <a:solidFill>
                  <a:srgbClr val="19A59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251960"/>
            <a:ext cx="4800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60120" y="4251960"/>
            <a:ext cx="73152" cy="1143000"/>
          </a:xfrm>
          <a:prstGeom prst="rect">
            <a:avLst/>
          </a:prstGeom>
          <a:solidFill>
            <a:srgbClr val="19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61288" y="4398264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t>Data processing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" y="4818888"/>
            <a:ext cx="4434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5303F"/>
                </a:solidFill>
                <a:latin typeface="Aptos"/>
              </a:defRPr>
            </a:pPr>
            <a:r>
              <a:t>SQL Agent job validates sales records and writes a run log.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251960"/>
            <a:ext cx="4800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4251960"/>
            <a:ext cx="73152" cy="1143000"/>
          </a:xfrm>
          <a:prstGeom prst="rect">
            <a:avLst/>
          </a:prstGeom>
          <a:solidFill>
            <a:srgbClr val="E89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9088" y="4398264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t>Refresh approach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818888"/>
            <a:ext cx="4434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5303F"/>
                </a:solidFill>
                <a:latin typeface="Aptos"/>
              </a:defRPr>
            </a:pPr>
            <a:r>
              <a:t>Power BI uses Import mode; refresh is manual in Power BI Desktop.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1E34"/>
                </a:solidFill>
                <a:latin typeface="Aptos"/>
              </a:defRPr>
            </a:pPr>
            <a:r>
              <a:t>4. Dashboard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D6C7E"/>
                </a:solidFill>
                <a:latin typeface="Aptos"/>
              </a:defRPr>
            </a:pPr>
            <a:r>
              <a:t>One page, multiple business areas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960120" cy="54864"/>
          </a:xfrm>
          <a:prstGeom prst="rect">
            <a:avLst/>
          </a:prstGeom>
          <a:solidFill>
            <a:srgbClr val="19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D6C7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73152" cy="1508760"/>
          </a:xfrm>
          <a:prstGeom prst="rect">
            <a:avLst/>
          </a:prstGeom>
          <a:solidFill>
            <a:srgbClr val="30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8366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04288"/>
            <a:ext cx="48920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03F"/>
                </a:solidFill>
                <a:latin typeface="Aptos"/>
              </a:defRPr>
            </a:pPr>
            <a:r>
              <a:t>Revenue, orders, AOV, YTD and YoY growth; regional and monthly trends; top products.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73152" cy="1508760"/>
          </a:xfrm>
          <a:prstGeom prst="rect">
            <a:avLst/>
          </a:prstGeom>
          <a:solidFill>
            <a:srgbClr val="19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8366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t>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04288"/>
            <a:ext cx="48920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03F"/>
                </a:solidFill>
                <a:latin typeface="Aptos"/>
              </a:defRPr>
            </a:pPr>
            <a:r>
              <a:t>Finance KPIs and trends using available finance records and date filters.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657600"/>
            <a:ext cx="73152" cy="1508760"/>
          </a:xfrm>
          <a:prstGeom prst="rect">
            <a:avLst/>
          </a:prstGeom>
          <a:solidFill>
            <a:srgbClr val="E89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80390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t>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224528"/>
            <a:ext cx="48920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03F"/>
                </a:solidFill>
                <a:latin typeface="Aptos"/>
              </a:defRPr>
            </a:pPr>
            <a:r>
              <a:t>People-related summary visuals from the available HR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73152" cy="1508760"/>
          </a:xfrm>
          <a:prstGeom prst="rect">
            <a:avLst/>
          </a:prstGeom>
          <a:solidFill>
            <a:srgbClr val="30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380390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t>SUPPLY 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224528"/>
            <a:ext cx="48920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03F"/>
                </a:solidFill>
                <a:latin typeface="Aptos"/>
              </a:defRPr>
            </a:pPr>
            <a:r>
              <a:t>Inventory movement and balance trends across available years.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21E34"/>
                </a:solidFill>
                <a:latin typeface="Aptos"/>
              </a:defRPr>
            </a:pPr>
            <a:r>
              <a:t>Shared controls: Year • Region • Currency   |   Navigation: bookmarks   |   Product detail: drill-through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1E34"/>
                </a:solidFill>
                <a:latin typeface="Aptos"/>
              </a:defRPr>
            </a:pPr>
            <a:r>
              <a:t>5. Interactivity &amp; Analytical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D6C7E"/>
                </a:solidFill>
                <a:latin typeface="Aptos"/>
              </a:defRPr>
            </a:pPr>
            <a:r>
              <a:t>Designed to support exploration, not just display static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960120" cy="54864"/>
          </a:xfrm>
          <a:prstGeom prst="rect">
            <a:avLst/>
          </a:prstGeom>
          <a:solidFill>
            <a:srgbClr val="19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D6C7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73152" cy="1828800"/>
          </a:xfrm>
          <a:prstGeom prst="rect">
            <a:avLst/>
          </a:prstGeom>
          <a:solidFill>
            <a:srgbClr val="30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8366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t>Context-aware 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04288"/>
            <a:ext cx="31546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03F"/>
                </a:solidFill>
                <a:latin typeface="Aptos"/>
              </a:defRPr>
            </a:pPr>
            <a:r>
              <a:t>Measures such as Total Sales, Distinct Orders, Average Order Value, Sales YTD, YoY Growth and Profit Margin.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73152" cy="1828800"/>
          </a:xfrm>
          <a:prstGeom prst="rect">
            <a:avLst/>
          </a:prstGeom>
          <a:solidFill>
            <a:srgbClr val="19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88366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t>User exploration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04288"/>
            <a:ext cx="31546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03F"/>
                </a:solidFill>
                <a:latin typeface="Aptos"/>
              </a:defRPr>
            </a:pPr>
            <a:r>
              <a:t>Year, region and currency selections update relevant KPIs and visuals; bookmark navigation switches dashboard views.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373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737360"/>
            <a:ext cx="73152" cy="1828800"/>
          </a:xfrm>
          <a:prstGeom prst="rect">
            <a:avLst/>
          </a:prstGeom>
          <a:solidFill>
            <a:srgbClr val="E89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88366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t>Detail &amp;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304288"/>
            <a:ext cx="31546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03F"/>
                </a:solidFill>
                <a:latin typeface="Aptos"/>
              </a:defRPr>
            </a:pPr>
            <a:r>
              <a:t>Product drill-through opens a detail view; RLS roles were created and tested for North America, Europe and Pacific.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1E34"/>
                </a:solidFill>
                <a:latin typeface="Aptos"/>
              </a:defRPr>
            </a:pPr>
            <a:r>
              <a:t>Important implementation note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5303F"/>
                </a:solidFill>
                <a:latin typeface="Aptos"/>
              </a:defRPr>
            </a:pPr>
            <a:r>
              <a:rPr dirty="0"/>
              <a:t>The SQL Agent job performs validation and logging. It does not automatically refresh the Power BI model; the current report refresh is manual.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1E34"/>
                </a:solidFill>
                <a:latin typeface="Aptos"/>
              </a:defRPr>
            </a:pPr>
            <a:r>
              <a:t>6. Challenges &amp; How I Addressed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D6C7E"/>
                </a:solidFill>
                <a:latin typeface="Aptos"/>
              </a:defRPr>
            </a:pPr>
            <a:r>
              <a:t>A few practical issues helped validate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960120" cy="54864"/>
          </a:xfrm>
          <a:prstGeom prst="rect">
            <a:avLst/>
          </a:prstGeom>
          <a:solidFill>
            <a:srgbClr val="19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D6C7E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2578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73152" cy="1463040"/>
          </a:xfrm>
          <a:prstGeom prst="rect">
            <a:avLst/>
          </a:prstGeom>
          <a:solidFill>
            <a:srgbClr val="30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8366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t>KPI totals and distinct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04288"/>
            <a:ext cx="4892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03F"/>
                </a:solidFill>
                <a:latin typeface="Aptos"/>
              </a:defRPr>
            </a:pPr>
            <a:r>
              <a:t>Checked measure definitions and used distinct order counting where appropriate so the displayed values represented the intended business metric.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578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73152" cy="1463040"/>
          </a:xfrm>
          <a:prstGeom prst="rect">
            <a:avLst/>
          </a:prstGeom>
          <a:solidFill>
            <a:srgbClr val="19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8366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t>Currency and source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04288"/>
            <a:ext cx="4892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03F"/>
                </a:solidFill>
                <a:latin typeface="Aptos"/>
              </a:defRPr>
            </a:pPr>
            <a:r>
              <a:t>Limited currency choices to currencies with matching sales rows and investigated blank years against SQL source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20440"/>
            <a:ext cx="52578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520440"/>
            <a:ext cx="73152" cy="1463040"/>
          </a:xfrm>
          <a:prstGeom prst="rect">
            <a:avLst/>
          </a:prstGeom>
          <a:solidFill>
            <a:srgbClr val="E89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66674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t>Model relationships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087368"/>
            <a:ext cx="4892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03F"/>
                </a:solidFill>
                <a:latin typeface="Aptos"/>
              </a:defRPr>
            </a:pPr>
            <a:r>
              <a:t>Reviewed fact-to-dimension relationships and date relationships so filtering behaved as intended.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20440"/>
            <a:ext cx="52578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520440"/>
            <a:ext cx="73152" cy="1463040"/>
          </a:xfrm>
          <a:prstGeom prst="rect">
            <a:avLst/>
          </a:prstGeom>
          <a:solidFill>
            <a:srgbClr val="30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366674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t>Navigation and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087368"/>
            <a:ext cx="4892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03F"/>
                </a:solidFill>
                <a:latin typeface="Aptos"/>
              </a:defRPr>
            </a:pPr>
            <a:r>
              <a:t>Tested bookmarks, product drill-through and the regional RLS roles in Power BI Desktop.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1E34"/>
                </a:solidFill>
                <a:latin typeface="Aptos"/>
              </a:defRPr>
            </a:pPr>
            <a:r>
              <a:t>7. Results &amp; Validation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D6C7E"/>
                </a:solidFill>
                <a:latin typeface="Aptos"/>
              </a:defRPr>
            </a:pPr>
            <a:r>
              <a:t>What is implemented and checked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960120" cy="54864"/>
          </a:xfrm>
          <a:prstGeom prst="rect">
            <a:avLst/>
          </a:prstGeom>
          <a:solidFill>
            <a:srgbClr val="19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D6C7E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1874519"/>
          </a:xfrm>
          <a:prstGeom prst="rect">
            <a:avLst/>
          </a:prstGeom>
          <a:solidFill>
            <a:srgbClr val="30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3794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58568"/>
            <a:ext cx="3154680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03F"/>
                </a:solidFill>
                <a:latin typeface="Aptos"/>
              </a:defRPr>
            </a:pPr>
            <a:r>
              <a:t>Sales, Finance, HR and Supply Chain sections built on a single-page experience.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73152" cy="1874519"/>
          </a:xfrm>
          <a:prstGeom prst="rect">
            <a:avLst/>
          </a:prstGeom>
          <a:solidFill>
            <a:srgbClr val="19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83794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t>Model &amp;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58568"/>
            <a:ext cx="3154680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03F"/>
                </a:solidFill>
                <a:latin typeface="Aptos"/>
              </a:defRPr>
            </a:pPr>
            <a:r>
              <a:t>Relationships reviewed; RLS roles tested; product drill-through verified.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9164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691640"/>
            <a:ext cx="73152" cy="1874519"/>
          </a:xfrm>
          <a:prstGeom prst="rect">
            <a:avLst/>
          </a:prstGeom>
          <a:solidFill>
            <a:srgbClr val="E89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83794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21E34"/>
                </a:solidFill>
                <a:latin typeface="Aptos"/>
              </a:defRPr>
            </a:pPr>
            <a:r>
              <a:t>Data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258568"/>
            <a:ext cx="3154680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5303F"/>
                </a:solidFill>
                <a:latin typeface="Aptos"/>
              </a:defRPr>
            </a:pPr>
            <a:r>
              <a:t>SQL validation returned 60,398 sales rows and 0 nulls for the checked key; distinct-key check returned 60,398 / 60,398.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1E34"/>
                </a:solidFill>
                <a:latin typeface="Aptos"/>
              </a:defRPr>
            </a:pPr>
            <a:r>
              <a:t>Scope of this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5303F"/>
                </a:solidFill>
                <a:latin typeface="Aptos"/>
              </a:defRPr>
            </a:pPr>
            <a:r>
              <a:t>These are implementation checks completed so far—not a claim of production deployment or a completed performance benchmark. The formal test report will be finalized after remaining deliverables.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860" y="228600"/>
            <a:ext cx="10972800" cy="1544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1E34"/>
                </a:solidFill>
                <a:latin typeface="Aptos"/>
              </a:defRPr>
            </a:pPr>
            <a:endParaRPr lang="en-US" sz="2700" b="1" dirty="0" smtClean="0"/>
          </a:p>
          <a:p>
            <a:pPr>
              <a:spcAft>
                <a:spcPts val="800"/>
              </a:spcAft>
              <a:defRPr sz="2700" b="1">
                <a:solidFill>
                  <a:srgbClr val="121E34"/>
                </a:solidFill>
                <a:latin typeface="Aptos"/>
              </a:defRPr>
            </a:pPr>
            <a:r>
              <a:rPr lang="en-US" sz="2700" b="1" dirty="0" smtClean="0"/>
              <a:t>8</a:t>
            </a:r>
            <a:r>
              <a:rPr lang="en-US" sz="2700" b="1" dirty="0"/>
              <a:t>. Project Summary &amp; Deliverables</a:t>
            </a:r>
          </a:p>
          <a:p>
            <a:pPr>
              <a:spcAft>
                <a:spcPts val="800"/>
              </a:spcAft>
              <a:defRPr sz="2700" b="1">
                <a:solidFill>
                  <a:srgbClr val="121E34"/>
                </a:solidFill>
                <a:latin typeface="Aptos"/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35860" y="85762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D6C7E"/>
                </a:solidFill>
                <a:latin typeface="Aptos"/>
              </a:defRPr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69210" y="1468288"/>
            <a:ext cx="960120" cy="54864"/>
          </a:xfrm>
          <a:prstGeom prst="rect">
            <a:avLst/>
          </a:prstGeom>
          <a:solidFill>
            <a:srgbClr val="19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D6C7E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0180" y="1570013"/>
            <a:ext cx="10515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ptos"/>
              </a:rPr>
              <a:t>Interactive Power BI dashboard covering Sales, Finance, HR, and Supply Chain.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ptos"/>
              </a:rPr>
              <a:t>Data preparation, semantic modelling, DAX measures, and Row-Level Security.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ptos"/>
              </a:rPr>
              <a:t>SQL-based data validation and processing-run logging.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ptos"/>
              </a:rPr>
              <a:t>Architecture diagram, data dictionary, and dashboard user guide.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ptos"/>
              </a:rPr>
              <a:t>Project documentation, demo, and validation results to support review and reproducibility</a:t>
            </a:r>
            <a:r>
              <a:rPr lang="en-US" dirty="0" smtClean="0"/>
              <a:t>.</a:t>
            </a:r>
          </a:p>
          <a:p>
            <a:pPr>
              <a:spcAft>
                <a:spcPts val="1500"/>
              </a:spcAft>
              <a:defRPr sz="1800">
                <a:solidFill>
                  <a:srgbClr val="25303F"/>
                </a:solidFill>
                <a:latin typeface="Aptos"/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D6C7E"/>
                </a:solidFill>
                <a:latin typeface="Aptos"/>
              </a:defRPr>
            </a:pPr>
            <a:r>
              <a:t>Current data limitation: blank periods indicate no matching rows in the available source tables.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002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19A59B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743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The goal was to turn connected business data into a single, interactive view that supports clearer exploration of performance across business areas.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257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CDDCEE"/>
                </a:solidFill>
                <a:latin typeface="Aptos"/>
              </a:defRPr>
            </a:pPr>
            <a:r>
              <a:t>DA-01 | Enterprise Business Intelligence Suite | Sri Vandana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807</Words>
  <Application>Microsoft Office PowerPoint</Application>
  <PresentationFormat>Widescreen</PresentationFormat>
  <Paragraphs>120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4</cp:revision>
  <dcterms:created xsi:type="dcterms:W3CDTF">2013-01-27T09:14:16Z</dcterms:created>
  <dcterms:modified xsi:type="dcterms:W3CDTF">2026-10-27T17:43:18Z</dcterms:modified>
  <cp:category/>
</cp:coreProperties>
</file>